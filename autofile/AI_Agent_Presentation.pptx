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从工具到伙伴：AI Agent 正在重新定义企业的生产力边界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D8"/>
                </a:solidFill>
              </a:defRPr>
            </a:pPr>
            <a:r>
              <a:t>每增加一个流程节点，企业平均损失 12% 的运营效率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调研显示：61% 的企业员工 每天花费超过 2 小时 处理重复性任务，年度人力成本浪费高达 $48 万/千人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传统 RPA（机器人流程自动化）在非结构化数据场景下的失败率高达 35%，无法应对真实业务复杂性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数据孤岛导致企业决策延迟：78% 的高管 承认曾因信息滞后做出滞后决策，平均错失 $230 万/季度 的市场机会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D8"/>
                </a:solidFill>
              </a:defRPr>
            </a:pPr>
            <a:r>
              <a:t>从被动响应到主动规划，AI Agent 实现了真正的自主智能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RAG（检索增强生成）+ MCP（模型上下文协议）: 双引擎架构，使 AI Agent 能够实时访问企业私有知识库，答案准确率从 65% 提升至 94%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多 Agent 协作系统可同时管理 5-7 个并行任务流，任务完成率 91%，远超单一 AI 工具的 52%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具备"反思能力"：在执行失败时自动回溯并优化策略，平均自愈率达 78%，无需人工干预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D8"/>
                </a:solidFill>
              </a:defRPr>
            </a:pPr>
            <a:r>
              <a:t>感知、推理、行动、进化——企业级智能的完整闭环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感知层: 多模态理解能力，支持文档、语音、图像、API 数据源的综合处理，信息提取速度 提升 8 倍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推理层: 复杂逻辑链推理（Chain-of-Thought），在供应链调度场景中将决策时间从 4 小时缩短至 12 分钟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行动层: 自主调用 200+ 企业软件 API，自动化覆盖率从 22% 扩展至 85%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进化层: 基于反馈的持续学习机制，任务执行精度每月提升 约 5-8 个百分点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D8"/>
                </a:solidFill>
              </a:defRPr>
            </a:pPr>
            <a:r>
              <a:t>已经在发生：8 个核心场景中的平均效率提升 217%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客户服务: Agent 独立处理 85% 的首次咨询，平均响应时间从 4.2 小时降至 23 秒，客户满意度评分（CSAT）提升 31%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财务对账: 跨 12 个系统的自动化对账，将月度结账周期从 8 天压缩至 1.5 天，错误率下降 96%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供应链预测: 结合实时市场数据的 Agent 预测模型，库存周转率提升 40%，滞销损失降低 $120 万/年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代码辅助: 开发团队引入 Agent 编码助手后，单个功能模块开发时间从 5 天缩短至 1.2 天，代码缺陷密度下降 44%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D8"/>
                </a:solidFill>
              </a:defRPr>
            </a:pPr>
            <a:r>
              <a:t>平均 ROI 285%，投资回收期 7 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对 50 家部署 AI Agent 的中大型企业调研显示：首年平均 ROI 达到 285%，第三年预计突破 450%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典型场景下，单个 Agent 替代 2.3 个全职人力，年度节省人力成本约 $18-25 万/Agent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隐性收益同样显著：流程合规率提升 60%，决策信息获取速度提升 12 倍，员工满意度指数上升 22 个点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投入成本方面，企业级 Agent 平台年费约为 $5-15 万/部署单元，首年总拥有成本（TCO）约为 $35-60 万，但次年边际成本骤降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D8"/>
                </a:solidFill>
              </a:defRPr>
            </a:pPr>
            <a:r>
              <a:t>安全不是事后补救，而是架构的第一层基石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数据安全: 企业级 AI Agent 采用"私有化部署 + 联邦学习"混合架构，敏感数据 100% 不离开企业内网，满足 GDPR、ISO 27001 合规要求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权限控制: 基于 RBAC（角色访问控制）的精细化权限管理，精确到单个 API 调用 的审计日志，支持实时监控与异常行为告警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幻觉治理: 通过 RAG 检索验证 + 人工审核工作流双保险，将关键业务场景的错误率控制在 0.3% 以下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审计追溯: 完整的决策链路记录，支持"全链路回溯"与"责任归属定位"，满足金融、医疗等强监管行业要求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D8"/>
                </a:solidFill>
              </a:defRPr>
            </a:pPr>
            <a:r>
              <a:t>16 周内完成价值验证，12 个月内实现全面部署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第 1 阶段（1-4 周）: 场景筛选与 PoC 验证——锁定 2-3 个高价值低风险场景，完成原型搭建，平均 2 周产出首个可演示 Agent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第 2 阶段（5-8 周）: 试点运行——在单一业务单元部署，运行 30-60 天收集真实数据，验证效率提升 ≥ 40% 方可进入下一阶段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第 3 阶段（9-16 周）: 规模化扩展——跨 3-5 个业务单元部署，建立内部 Agent 管理平台，自动化覆盖率目标 60%+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第 4 阶段（17-52 周）: 全面运营——建立 AI Agent 卓越中心（CoE），实现全流程智能化和持续迭代优化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D8"/>
                </a:solidFill>
              </a:defRPr>
            </a:pPr>
            <a:r>
              <a:t>未来三年，每个企业员工都将拥有专属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2025: 多 Agent 协作系统成熟，企业平均部署 5-10 个 专业 Agent，跨部门流程自动化率突破 70%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2026: AI Agent 深度嵌入企业 ERP/CRM/MES 核心系统，"全民开发者" 时代到来，非技术员工通过自然语言构建业务 Agent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2027-2028: 自主企业（Autonomous Enterprise）初现雏形——Agent 集群能够自主完成 80% 的日常运营决策，企业管理层从"执行者"转型为"策略制定者"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- 行业预测：到 2028 年，未部署 AI Agent 的企业运营成本将比竞争对手高出 35%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D8"/>
                </a:solidFill>
              </a:defRPr>
            </a:pPr>
            <a:r>
              <a:t>今天启动，7 个月后收获第一批成果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立即行动: 建议在 30 天内完成内部需求调研与场景筛选，锁定 2-3 个优先落地场景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小步快跑: 首期投入控制在 $8-12 万，覆盖 PoC 验证与试点运行，确保"低风险、高确定性"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能力建设: 同步启动 3-5 人 的内部 AI Agent 核心团队培养，建立初步的 Agent 开发与运维能力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选择伙伴: 优先考察供应商的企业级安全资质、行业落地案例、本地化服务能力三大维度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配色方案: 主色 #0A1628（深午夜蓝），辅色 #00D4FF（电光青），强调色 #FFFFFF（纯白）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字体强调: 标题使用 DIN Next LT Pro Bold 或 Source Han Sans SC Bold，大号、紧凑、力量感；副标题使用 Inter Medium，字号缩小 50%，留白充足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布局选择: 黄金分割比例——标题区占页面上部 40%，视觉主体居左偏上。背景使用细微的六边形网格纹理（10% 透明度），营造深度感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配色方案: 主色 #1A1F2E（暗岩灰），辅色 #FF6B35（警示橙），强调色 #E8E8E8（浅灰白）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字体强调: 标题保持深色系科技风，数据百分比使用 DIN Alternate Bold 宽体字放大约 200%，制造视觉冲击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布局选择: 对比式布局——左侧"现状"用打结线条图，右侧"理想"用流畅线条图，中间红色虚线框制造心理张力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配色方案: 主色 #0D1B2A（深海蓝），辅色 #00B4D8（水蓝），强调色 #48CAE4（浅青色，用于高亮发光效果）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字体强调: 技术术语（RAG、MCP、Chain-of-Thought）使用斜体或等宽字体 JetBrains Mono，与正文区分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布局选择: 剖面层叠式布局——三层立体方块自下而上堆叠，每层使用不同透明度区分层次，光线从右上方 45 度角照射，营造立体感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配色方案: 主色 #0F172A（极深蓝），辅色 #06B6D4（青色），强调色 #22D3EE（亮青色，用于发光效果）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字体强调: 四大能力名称使用 标题级大写，数据指标使用加粗衬线体突出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布局选择: 图腾柱式对称布局——四根等距立柱垂直排列，每根柱体顶部为能力图标，中段为数据柱，底部为能力名称。柱体内部使用渐变色填充（由深到浅）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配色方案: 主色 #111827（碳黑），辅色 #3B82F6（科技蓝），强调色 #10B981（增长绿，用于效率提升数据）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字体强调: 每个场景使用小图标 + 场景名称的组合，效率百分比使用超大号绿色数字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布局选择: 2×2 卡片网格布局——四个等大卡片，带有细微的投影效果（box-shadow），卡片边缘有 1px 的发光边框。卡片之间保持 24px 间距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配色方案: 主色 #0F172A（极深蓝），辅色 #F59E0B（琥珀金，用于收益曲线），强调色 #10B981（增长绿，用于 ROI 数字）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字体强调: ROI 数字 285% 使用超大号字体（约标题的 250%），加粗加发光效果；回收期数字使用中等字号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布局选择: 坐标轴图表 + 数据标签组合。图表占页面左侧 60%，右侧为关键数据标签矩阵。曲线使用平滑贝塞尔曲线（bezier curve），关键交叉点用脉冲光点标注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配色方案: 主色 #0B1120（近黑深蓝），辅色 #334155（岩石灰），强调色 #60A5FA（防御蓝，用于盾牌和防护层）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字体强调: 合规标准名称（GDPR、ISO 27001）使用小号全大写字母，带有微弱的背景高亮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布局选择: 盾牌型放射状布局——盾牌居于页面中心偏上，三层同心圆环包围盾牌，每层环上分布关键安全特性点，使用发光连接线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配色方案: 主色 #0D1B2A（深海蓝），辅色 #0EA5E9（天际蓝），强调色 #22D3EE（亮青色，用于当前阶段高亮）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字体强调: 时间节点使用时间轴上的圆形节点标注，当前阶段节点放大并高亮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布局选择: 横向时间轴布局——四颗渐变色节点均匀分布在页面中央偏上，节点之间用发光线条连接。节点下方为阶段名称和详细任务列表，右侧为量化目标矩阵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配色方案: 主色 #0C1222（极夜蓝），辅色 #6366F1（靛蓝色），强调色 #A855F7（紫罗兰色，用于未来感的渐变）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字体强调: 年份数字使用超大号细字体 DIN Light，制造时间流逝的视觉隐喻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布局选择: 三段式递进布局——从左到右三个时间截面图，画面复杂度递增（从简洁的几个光点到密集的智能网络），暗示演进过程。中间用半透明渐变带过渡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